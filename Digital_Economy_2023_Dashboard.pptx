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f82b76c9-f009-ea1b-386b-1803ae6704c9}">
          <p14:sldIdLst>
            <p14:sldId id="256"/>
            <p14:sldId id="257"/>
          </p14:sldIdLst>
        </p14:section>
        <p14:section name="المنهجية" id="{92e7b3cb-76d4-401e-77b5-caa13560a19d}">
          <p14:sldIdLst>
            <p14:sldId id="258"/>
            <p14:sldId id="259"/>
          </p14:sldIdLst>
        </p14:section>
        <p14:section name="اللوحة" id="{f5f701e7-760e-d3cc-f70d-865e4bfec422}">
          <p14:sldIdLst>
            <p14:sldId id="260"/>
            <p14:sldId id="261"/>
          </p14:sldIdLst>
        </p14:section>
        <p14:section name="التحليل" id="{365de867-e255-a75d-99c8-9d1aa779ae93}">
          <p14:sldIdLst>
            <p14:sldId id="262"/>
            <p14:sldId id="263"/>
            <p14:sldId id="264"/>
            <p14:sldId id="265"/>
            <p14:sldId id="266"/>
          </p14:sldIdLst>
        </p14:section>
        <p14:section name="الخاتمة" id="{72bef57b-f744-4b05-710d-cf35e42b59e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حصة من الناتج المحلي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370D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523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7727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الواسع</c:v>
                </c:pt>
                <c:pt idx="1">
                  <c:v>الأساسي</c:v>
                </c:pt>
                <c:pt idx="2">
                  <c:v>الضيق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10.7</c:v>
                </c:pt>
                <c:pt idx="1">
                  <c:v>2.6</c:v>
                </c:pt>
                <c:pt idx="2">
                  <c:v>2.3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523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7727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77727F"/>
                </a:solidFill>
                <a:latin typeface="+mn-lt"/>
              </a:rPr>
              <a:t>مليار ريال سعودي · 2023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مليار ريال</c:v>
                </c:pt>
              </c:strCache>
            </c:strRef>
          </c:tx>
          <c:spPr>
            <a:solidFill>
              <a:srgbClr val="9370DB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23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7727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الإيرادات التشغيلية</c:v>
                  </c:pt>
                  <c:pt idx="1">
                    <c:v>النفقات التشغيلية</c:v>
                  </c:pt>
                  <c:pt idx="2">
                    <c:v>تعويضات المشتغلين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236.4</c:v>
                </c:pt>
                <c:pt idx="1">
                  <c:v>115.5</c:v>
                </c:pt>
                <c:pt idx="2">
                  <c:v>27.5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200" u="none">
                  <a:solidFill>
                    <a:srgbClr val="25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"/>
        </c:scaling>
        <c:delete val="0"/>
        <c:axPos val="l"/>
        <c:majorGridlines>
          <c:spPr>
            <a:ln w="9525" cap="flat">
              <a:solidFill>
                <a:srgbClr val="E7E2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7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7727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77727F"/>
                </a:solidFill>
                <a:latin typeface="+mn-lt"/>
              </a:rPr>
              <a:t>مليار ريال سعودي · 2023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الواردات 2023</c:v>
                </c:pt>
              </c:strCache>
            </c:strRef>
          </c:tx>
          <c:spPr>
            <a:solidFill>
              <a:srgbClr val="9370D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معدات الاتصالات</c:v>
                  </c:pt>
                  <c:pt idx="1">
                    <c:v>إلكترونيات استهلاكية</c:v>
                  </c:pt>
                  <c:pt idx="2">
                    <c:v>أجهزة الكمبيوتر الطرفية</c:v>
                  </c:pt>
                  <c:pt idx="3">
                    <c:v>مكونات إلكترونية</c:v>
                  </c:pt>
                  <c:pt idx="4">
                    <c:v>سلع متنوعة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30.5</c:v>
                </c:pt>
                <c:pt idx="1">
                  <c:v>5.5</c:v>
                </c:pt>
                <c:pt idx="2">
                  <c:v>12.3</c:v>
                </c:pt>
                <c:pt idx="3">
                  <c:v>5.8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الصادرات وإعادة التصدير 2023</c:v>
                </c:pt>
              </c:strCache>
            </c:strRef>
          </c:tx>
          <c:spPr>
            <a:solidFill>
              <a:srgbClr val="2523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معدات الاتصالات</c:v>
                  </c:pt>
                  <c:pt idx="1">
                    <c:v>إلكترونيات استهلاكية</c:v>
                  </c:pt>
                  <c:pt idx="2">
                    <c:v>أجهزة الكمبيوتر الطرفية</c:v>
                  </c:pt>
                  <c:pt idx="3">
                    <c:v>مكونات إلكترونية</c:v>
                  </c:pt>
                  <c:pt idx="4">
                    <c:v>سلع متنوعة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11.1</c:v>
                </c:pt>
                <c:pt idx="1">
                  <c:v>0.3</c:v>
                </c:pt>
                <c:pt idx="2">
                  <c:v>0.4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5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9525" cap="flat">
              <a:solidFill>
                <a:srgbClr val="E7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523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7727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77727F"/>
                </a:solidFill>
                <a:latin typeface="+mn-lt"/>
              </a:rPr>
              <a:t>نسبة النمو 2022 → 2023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النمو</c:v>
                </c:pt>
              </c:strCache>
            </c:strRef>
          </c:tx>
          <c:spPr>
            <a:solidFill>
              <a:srgbClr val="9370D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الحوسبة السحابية</c:v>
                  </c:pt>
                  <c:pt idx="1">
                    <c:v>نشر البرمجيات</c:v>
                  </c:pt>
                  <c:pt idx="2">
                    <c:v>التجارة الإلكترونية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40.5</c:v>
                </c:pt>
                <c:pt idx="1">
                  <c:v>28.8</c:v>
                </c:pt>
                <c:pt idx="2">
                  <c:v>24.2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5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9525" cap="flat">
              <a:solidFill>
                <a:srgbClr val="E7E2F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77727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77727F"/>
                </a:solidFill>
                <a:latin typeface="+mn-lt"/>
              </a:rPr>
              <a:t>نسبة السجلات من إجمالي كل نشاط (%) · 2023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التجارة الإلكترونية</c:v>
                </c:pt>
              </c:strCache>
            </c:strRef>
          </c:tx>
          <c:spPr>
            <a:solidFill>
              <a:srgbClr val="9370D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الرياض</c:v>
                  </c:pt>
                  <c:pt idx="1">
                    <c:v>مكة المكرمة</c:v>
                  </c:pt>
                  <c:pt idx="2">
                    <c:v>المنطقة الشرقية</c:v>
                  </c:pt>
                  <c:pt idx="3">
                    <c:v>المدينة المنورة</c:v>
                  </c:pt>
                  <c:pt idx="4">
                    <c:v>مناطق 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</c:v>
                </c:pt>
                <c:pt idx="1">
                  <c:v>25.4</c:v>
                </c:pt>
                <c:pt idx="2">
                  <c:v>16</c:v>
                </c:pt>
                <c:pt idx="3">
                  <c:v>4.9</c:v>
                </c:pt>
                <c:pt idx="4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الحوسبة السحابية</c:v>
                </c:pt>
              </c:strCache>
            </c:strRef>
          </c:tx>
          <c:spPr>
            <a:solidFill>
              <a:srgbClr val="2523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الرياض</c:v>
                  </c:pt>
                  <c:pt idx="1">
                    <c:v>مكة المكرمة</c:v>
                  </c:pt>
                  <c:pt idx="2">
                    <c:v>المنطقة الشرقية</c:v>
                  </c:pt>
                  <c:pt idx="3">
                    <c:v>المدينة المنورة</c:v>
                  </c:pt>
                  <c:pt idx="4">
                    <c:v>مناطق 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60.4</c:v>
                </c:pt>
                <c:pt idx="1">
                  <c:v>19.7</c:v>
                </c:pt>
                <c:pt idx="2">
                  <c:v>12.3</c:v>
                </c:pt>
                <c:pt idx="3">
                  <c:v>2.6</c:v>
                </c:pt>
                <c:pt idx="4">
                  <c:v>5.1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نشر البرمجيات</c:v>
                </c:pt>
              </c:strCache>
            </c:strRef>
          </c:tx>
          <c:spPr>
            <a:solidFill>
              <a:srgbClr val="B7A5E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5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الرياض</c:v>
                  </c:pt>
                  <c:pt idx="1">
                    <c:v>مكة المكرمة</c:v>
                  </c:pt>
                  <c:pt idx="2">
                    <c:v>المنطقة الشرقية</c:v>
                  </c:pt>
                  <c:pt idx="3">
                    <c:v>المدينة المنورة</c:v>
                  </c:pt>
                  <c:pt idx="4">
                    <c:v>مناطق 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61</c:v>
                </c:pt>
                <c:pt idx="1">
                  <c:v>20.9</c:v>
                </c:pt>
                <c:pt idx="2">
                  <c:v>10.6</c:v>
                </c:pt>
                <c:pt idx="3">
                  <c:v>2.4</c:v>
                </c:pt>
                <c:pt idx="4">
                  <c:v>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5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7E2F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2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523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هذا العرض يشرح لوحة Power BI التي بنيتها على إحصاءات الاقتصاد الرقمي لعام 2023، وكيف جُهزت البيانات في Excel قبل نمذجتها.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الأربعة مأخوذة من الجداول 1 و2 و3 و6. حصة 15.6% هي مجموع المستويات الأساسي والضيق والواسع كما ورد في الجدول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رحلة العمل من الملف الخام حتى اللوحة. التنظيف تم في Excel ثم رُبطت الجداول في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الجداول العشرة. تحققت من أن مجاميع المناطق تساوي الإجمالي في الجداول 8 و9 و10، وأن مجموع فئات الواردات والصادرات يساوي الإجمالي في الجدول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الصفحة الأولى تجمع مؤشرات القطاع في مكان واحد: أربع بطاقات، ومخطط حلقي، ومخطط الواردات والصادرات، وأشرطة السجلات.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لاحظت أن نسب المخططات الدائرية محسوبة من إجمالي أقل من الجداول: مثلاً الرياض 41.62% في اللوحة مقابل 40.2% في الجدول 8، لأن المنطقة الخامسة غير مضمنة في المخطط.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المستوى الواسع 10.7% والأساسي 2.6% والضيق 2.3%. المجموع 15.6% هو مجموع المستويات كما ورد في صف الإجمالي بالجدول 1. تأكد من تعريف المستويات قبل مقارنتها بمصادر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إيرادات القطاع 236.4 مليار ريال، نفقاته 115.5 مليار، تعويضات المشتغلين 27.5 مليار (الجداول 3 و4 و5 بآلاف الريالات). النسب محسوبة بقسمة كل بند على الإيرادات. نسبة الاتصال 71.6% من الجدول 2 وتظهر في اللوحة كـ 0.72.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الواردات 54.9 مليار (+19.9%)، الصادرات وإعادة التصدير 11.8 مليار (+74.9%)، وحجم التجارة 66.8 مليار (+27.0%) مقارنة بـ 2022. معدات الاتصالات: 30.5 مليار واردات و11.1 مليار صادرات. ملاحظة: مخطط اللوحة الحالي مساحي، والأعمدة المجمعة أوضح لمقارنة الفئات.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من الجدول 7: التجارة الإلكترونية من 30,187 إلى 37,481، نشر البرمجيات من 3,113 إلى 4,009، والحوسبة السحابية من 1,252 إلى 1,759. القاعدة الصغيرة للسحابة تضخم نسبة النمو.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النسب محسوبة من الجداول 8 و9 و10 على الإجمالي الكامل (37,481 و1,759 و4,009). 'مناطق أخرى' تشمل القصيم وعسير وبقية المناطق. الرياض 15,074 سجل تجارة إلكترونية و1,062 سحابة و2,447 برمجيات.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نختم بأهم النتائج ثم بأربع تحسينات عملية لرفع دقة اللوحة ووضوحها: تضمين المنطقة الخامسة، تغيير نوع المخطط، توضيح الوحدات، وعرض النسبة بصيغة مئوية.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868680" cy="630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nogr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566160" cy="31729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937760" y="173736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chemeClr val="bg1"/>
                </a:solidFill>
              </a:rPr>
              <a:t>إحصاءات الاقتصاد الرقمي 2023</a:t>
            </a:r>
            <a:endParaRPr lang="ar-SA" sz="4600" dirty="0"/>
          </a:p>
        </p:txBody>
      </p:sp>
      <p:sp>
        <p:nvSpPr>
          <p:cNvPr id="4" name="Subtitle"/>
          <p:cNvSpPr txBox="1"/>
          <p:nvPr/>
        </p:nvSpPr>
        <p:spPr>
          <a:xfrm>
            <a:off x="4937760" y="37490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3"/>
                </a:solidFill>
              </a:rPr>
              <a:t>شرح لوحة Power BI والبيانات خلف الأرقام</a:t>
            </a:r>
            <a:endParaRPr lang="ar-SA" sz="2200" dirty="0"/>
          </a:p>
        </p:txBody>
      </p:sp>
      <p:sp>
        <p:nvSpPr>
          <p:cNvPr id="5" name="Presenter"/>
          <p:cNvSpPr txBox="1"/>
          <p:nvPr/>
        </p:nvSpPr>
        <p:spPr>
          <a:xfrm>
            <a:off x="493776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Orgwan Dandeni</a:t>
            </a:r>
            <a:endParaRPr lang="ar-SA" sz="2000" dirty="0"/>
          </a:p>
        </p:txBody>
      </p:sp>
      <p:sp>
        <p:nvSpPr>
          <p:cNvPr id="6" name="Presenter Title"/>
          <p:cNvSpPr txBox="1"/>
          <p:nvPr/>
        </p:nvSpPr>
        <p:spPr>
          <a:xfrm>
            <a:off x="493776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00" spc="600" kern="0" dirty="0">
                <a:solidFill>
                  <a:schemeClr val="accent3"/>
                </a:solidFill>
              </a:rPr>
              <a:t>DATA ANALYST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الملخص التنفيذي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أربعة أرقام تلخص صورة القطاع الرقمي في 2023</a:t>
            </a:r>
            <a:endParaRPr lang="ar-SA" sz="1600" dirty="0"/>
          </a:p>
        </p:txBody>
      </p:sp>
      <p:sp>
        <p:nvSpPr>
          <p:cNvPr id="4" name="KPI Card 1"/>
          <p:cNvSpPr/>
          <p:nvPr/>
        </p:nvSpPr>
        <p:spPr>
          <a:xfrm>
            <a:off x="9070848" y="1737360"/>
            <a:ext cx="2569464" cy="2743200"/>
          </a:xfrm>
          <a:prstGeom prst="roundRect">
            <a:avLst>
              <a:gd name="adj" fmla="val 4270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5" name="KPI Icon Bg 1"/>
          <p:cNvSpPr/>
          <p:nvPr/>
        </p:nvSpPr>
        <p:spPr>
          <a:xfrm>
            <a:off x="10863072" y="1920240"/>
            <a:ext cx="566928" cy="566928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</p:spPr>
      </p:sp>
      <p:pic>
        <p:nvPicPr>
          <p:cNvPr id="6" name="KPI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76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53728" y="26060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236.4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253728" y="3291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مليار ريال</a:t>
            </a:r>
            <a:endParaRPr lang="ar-SA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253728" y="365760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إيرادات قطاع تقنية المعلومات والاتصالات</a:t>
            </a:r>
            <a:endParaRPr lang="ar-SA" sz="1400" dirty="0"/>
          </a:p>
        </p:txBody>
      </p:sp>
      <p:sp>
        <p:nvSpPr>
          <p:cNvPr id="10" name="KPI Card 2"/>
          <p:cNvSpPr/>
          <p:nvPr/>
        </p:nvSpPr>
        <p:spPr>
          <a:xfrm>
            <a:off x="6227064" y="1737360"/>
            <a:ext cx="2569464" cy="2743200"/>
          </a:xfrm>
          <a:prstGeom prst="roundRect">
            <a:avLst>
              <a:gd name="adj" fmla="val 4270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1" name="KPI Icon Bg 2"/>
          <p:cNvSpPr/>
          <p:nvPr/>
        </p:nvSpPr>
        <p:spPr>
          <a:xfrm>
            <a:off x="8019288" y="1920240"/>
            <a:ext cx="566928" cy="566928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</p:spPr>
      </p:sp>
      <p:pic>
        <p:nvPicPr>
          <p:cNvPr id="12" name="KPI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20665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9944" y="26060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15.6%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6409944" y="3291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من الناتج المحلي</a:t>
            </a:r>
            <a:endParaRPr lang="ar-SA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9944" y="365760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حصة الاقتصاد الرقمي (مجموع المستويات الثلاثة)</a:t>
            </a:r>
            <a:endParaRPr lang="ar-SA" sz="1400" dirty="0"/>
          </a:p>
        </p:txBody>
      </p:sp>
      <p:sp>
        <p:nvSpPr>
          <p:cNvPr id="16" name="KPI Card 3"/>
          <p:cNvSpPr/>
          <p:nvPr/>
        </p:nvSpPr>
        <p:spPr>
          <a:xfrm>
            <a:off x="3383280" y="1737360"/>
            <a:ext cx="2569464" cy="2743200"/>
          </a:xfrm>
          <a:prstGeom prst="roundRect">
            <a:avLst>
              <a:gd name="adj" fmla="val 4270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7" name="KPI Icon Bg 3"/>
          <p:cNvSpPr/>
          <p:nvPr/>
        </p:nvSpPr>
        <p:spPr>
          <a:xfrm>
            <a:off x="5175504" y="1920240"/>
            <a:ext cx="566928" cy="566928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</p:spPr>
      </p:sp>
      <p:pic>
        <p:nvPicPr>
          <p:cNvPr id="18" name="KPI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0665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66160" y="26060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71.6%</a:t>
            </a:r>
            <a:endParaRPr lang="en-US" sz="3800" dirty="0"/>
          </a:p>
        </p:txBody>
      </p:sp>
      <p:sp>
        <p:nvSpPr>
          <p:cNvPr id="20" name="Text 15"/>
          <p:cNvSpPr txBox="1"/>
          <p:nvPr/>
        </p:nvSpPr>
        <p:spPr>
          <a:xfrm>
            <a:off x="3566160" y="3291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من المنشآت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566160" y="365760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تستخدم أنظمة أو أجهزة متصلة بالإنترنت</a:t>
            </a:r>
            <a:endParaRPr lang="ar-SA" sz="1400" dirty="0"/>
          </a:p>
        </p:txBody>
      </p:sp>
      <p:sp>
        <p:nvSpPr>
          <p:cNvPr id="22" name="KPI Card 4"/>
          <p:cNvSpPr/>
          <p:nvPr/>
        </p:nvSpPr>
        <p:spPr>
          <a:xfrm>
            <a:off x="539496" y="1737360"/>
            <a:ext cx="2569464" cy="2743200"/>
          </a:xfrm>
          <a:prstGeom prst="roundRect">
            <a:avLst>
              <a:gd name="adj" fmla="val 4270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23" name="KPI Icon Bg 4"/>
          <p:cNvSpPr/>
          <p:nvPr/>
        </p:nvSpPr>
        <p:spPr>
          <a:xfrm>
            <a:off x="2331720" y="1920240"/>
            <a:ext cx="566928" cy="566928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</p:spPr>
      </p:sp>
      <p:pic>
        <p:nvPicPr>
          <p:cNvPr id="24" name="KPI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20665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2376" y="26060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+27%</a:t>
            </a:r>
            <a:endParaRPr lang="en-US" sz="38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" y="3291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نمو حجم التجارة</a:t>
            </a:r>
            <a:endParaRPr lang="ar-SA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22376" y="365760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سلع التقنية: من 52.6 إلى 66.8 مليار ريال</a:t>
            </a:r>
            <a:endParaRPr lang="ar-SA" sz="1400" dirty="0"/>
          </a:p>
        </p:txBody>
      </p:sp>
      <p:sp>
        <p:nvSpPr>
          <p:cNvPr id="28" name="Takeaway Panel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29" name="Takeaway Text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الخلاصة: قطاع تقنية المعلومات والاتصالات يحقق إيرادات ضخمة وتنمو تجارته الخارجية وسجلاته الرقمية بسرعة، لكن النشاط الرقمي يتركز بدرجة عالية في الرياض ومكة المكرمة والمنطقة الشرقية.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من البيانات الخام إلى اللوحة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أربع مراحل: المصدر، التنظيف، النمذجة، ثم العرض التفاعلي</a:t>
            </a:r>
            <a:endParaRPr lang="ar-SA" sz="1600" dirty="0"/>
          </a:p>
        </p:txBody>
      </p:sp>
      <p:sp>
        <p:nvSpPr>
          <p:cNvPr id="4" name="Step Card 1"/>
          <p:cNvSpPr/>
          <p:nvPr/>
        </p:nvSpPr>
        <p:spPr>
          <a:xfrm>
            <a:off x="9208008" y="1828800"/>
            <a:ext cx="2432304" cy="3383280"/>
          </a:xfrm>
          <a:prstGeom prst="roundRect">
            <a:avLst>
              <a:gd name="adj" fmla="val 4511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5" name="Step Icon Bg 1"/>
          <p:cNvSpPr/>
          <p:nvPr/>
        </p:nvSpPr>
        <p:spPr>
          <a:xfrm>
            <a:off x="10725912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4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3660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436608" y="29718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مصادر البيانات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436608" y="3749040"/>
            <a:ext cx="1975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2"/>
                </a:solidFill>
              </a:rPr>
              <a:t>10 جداول إحصائية للاقتصاد الرقمي لعام 2023، وسجلات الأنشطة الرقمية من وزارة التجارة</a:t>
            </a:r>
            <a:endParaRPr lang="ar-SA" sz="1500" dirty="0"/>
          </a:p>
        </p:txBody>
      </p:sp>
      <p:sp>
        <p:nvSpPr>
          <p:cNvPr id="10" name="Arrow 1"/>
          <p:cNvSpPr/>
          <p:nvPr/>
        </p:nvSpPr>
        <p:spPr>
          <a:xfrm>
            <a:off x="8823960" y="3337560"/>
            <a:ext cx="310896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6318504" y="1828800"/>
            <a:ext cx="2432304" cy="3383280"/>
          </a:xfrm>
          <a:prstGeom prst="roundRect">
            <a:avLst>
              <a:gd name="adj" fmla="val 4511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2" name="Step Icon Bg 2"/>
          <p:cNvSpPr/>
          <p:nvPr/>
        </p:nvSpPr>
        <p:spPr>
          <a:xfrm>
            <a:off x="7836408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219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47104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2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6547104" y="29718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التنظيف في Excel</a:t>
            </a:r>
            <a:endParaRPr lang="ar-SA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547104" y="3749040"/>
            <a:ext cx="1975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2"/>
                </a:solidFill>
              </a:rPr>
              <a:t>تجهيز الجداول بعناوين واضحة وبنية جدولية مناسبة للتحليل والربط</a:t>
            </a:r>
            <a:endParaRPr lang="ar-SA" sz="1500" dirty="0"/>
          </a:p>
        </p:txBody>
      </p:sp>
      <p:sp>
        <p:nvSpPr>
          <p:cNvPr id="17" name="Arrow 2"/>
          <p:cNvSpPr/>
          <p:nvPr/>
        </p:nvSpPr>
        <p:spPr>
          <a:xfrm>
            <a:off x="5934456" y="3337560"/>
            <a:ext cx="310896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18" name="Step Card 3"/>
          <p:cNvSpPr/>
          <p:nvPr/>
        </p:nvSpPr>
        <p:spPr>
          <a:xfrm>
            <a:off x="3429000" y="1828800"/>
            <a:ext cx="2432304" cy="3383280"/>
          </a:xfrm>
          <a:prstGeom prst="roundRect">
            <a:avLst>
              <a:gd name="adj" fmla="val 4511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9" name="Step Icon Bg 3"/>
          <p:cNvSpPr/>
          <p:nvPr/>
        </p:nvSpPr>
        <p:spPr>
          <a:xfrm>
            <a:off x="4946904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22199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6576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3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3657600" y="29718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النمذجة في Power BI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3657600" y="3749040"/>
            <a:ext cx="1975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2"/>
                </a:solidFill>
              </a:rPr>
              <a:t>استيراد الجداول وبناء المقاييس والعناصر البصرية</a:t>
            </a:r>
            <a:endParaRPr lang="ar-SA" sz="1500" dirty="0"/>
          </a:p>
        </p:txBody>
      </p:sp>
      <p:sp>
        <p:nvSpPr>
          <p:cNvPr id="24" name="Arrow 3"/>
          <p:cNvSpPr/>
          <p:nvPr/>
        </p:nvSpPr>
        <p:spPr>
          <a:xfrm>
            <a:off x="3044952" y="3337560"/>
            <a:ext cx="310896" cy="274320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25" name="Step Card 4"/>
          <p:cNvSpPr/>
          <p:nvPr/>
        </p:nvSpPr>
        <p:spPr>
          <a:xfrm>
            <a:off x="539496" y="1828800"/>
            <a:ext cx="2432304" cy="3383280"/>
          </a:xfrm>
          <a:prstGeom prst="roundRect">
            <a:avLst>
              <a:gd name="adj" fmla="val 4511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26" name="Step Icon Bg 4"/>
          <p:cNvSpPr/>
          <p:nvPr/>
        </p:nvSpPr>
        <p:spPr>
          <a:xfrm>
            <a:off x="2057400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tep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222199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8096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4</a:t>
            </a:r>
            <a:endParaRPr lang="en-US" sz="3400" dirty="0"/>
          </a:p>
        </p:txBody>
      </p:sp>
      <p:sp>
        <p:nvSpPr>
          <p:cNvPr id="29" name="Text 23"/>
          <p:cNvSpPr txBox="1"/>
          <p:nvPr/>
        </p:nvSpPr>
        <p:spPr>
          <a:xfrm>
            <a:off x="768096" y="29718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اللوحة التفاعلية</a:t>
            </a:r>
            <a:endParaRPr lang="ar-SA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68096" y="3749040"/>
            <a:ext cx="1975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2"/>
                </a:solidFill>
              </a:rPr>
              <a:t>صفحتان: المؤشرات العامة، والتوزيع حسب المناطق مع فلتر المنطقة</a:t>
            </a:r>
            <a:endParaRPr lang="ar-SA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الناتج: لوحة من صفحتين تغطي 10 جداول وسنتي المقارنة 2022 و2023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خريطة البيانات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10 جداول موزعة على 6 محاور، وجميع المجاميع تم التحقق منها</a:t>
            </a:r>
            <a:endParaRPr lang="ar-SA" sz="1600" dirty="0"/>
          </a:p>
        </p:txBody>
      </p:sp>
      <p:graphicFrame>
        <p:nvGraphicFramePr>
          <p:cNvPr id="5" name="Data 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91640"/>
          <a:ext cx="77083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59352"/>
                <a:gridCol w="822960"/>
              </a:tblGrid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الوحدة والفترة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المحتوى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الجدول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نسبة مئوية · 2023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حصة الاقتصاد الرقمي من الناتج المحلي حسب المستوى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نسبة مئوية · 2023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نسبة المنشآت المستخدمة لأنظمة متصلة بالإنترنت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آلاف الريالات · 2023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إيرادات ونفقات وتعويضات قطاع تقنية المعلومات والاتصالات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3–5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آلاف الريالات · 2022–2023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واردات وصادرات سلع التقنية (5 فئات)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عدد · 2022–2023 (وزارة التجارة)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سجلات التجارة الإلكترونية والسحابة والبرمجيات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عدد · 2023 (وزارة التجارة)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25232B"/>
                          </a:solidFill>
                        </a:rPr>
                        <a:t>السجلات حسب المنطقة الإدارية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B4FB8"/>
                          </a:solidFill>
                        </a:rPr>
                        <a:t>8–10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B"/>
                    </a:solidFill>
                  </a:tcPr>
                </a:tc>
              </a:tr>
            </a:tbl>
          </a:graphicData>
        </a:graphic>
      </p:graphicFrame>
      <p:sp>
        <p:nvSpPr>
          <p:cNvPr id="5" name="Validation Card"/>
          <p:cNvSpPr/>
          <p:nvPr/>
        </p:nvSpPr>
        <p:spPr>
          <a:xfrm>
            <a:off x="548640" y="1691640"/>
            <a:ext cx="3108960" cy="4224528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6" name="Check Icon Bg"/>
          <p:cNvSpPr/>
          <p:nvPr/>
        </p:nvSpPr>
        <p:spPr>
          <a:xfrm>
            <a:off x="2971800" y="1874520"/>
            <a:ext cx="502920" cy="502920"/>
          </a:xfrm>
          <a:prstGeom prst="ellipse">
            <a:avLst/>
          </a:prstGeom>
          <a:solidFill>
            <a:schemeClr val="accent3">
              <a:alpha val="55000"/>
            </a:schemeClr>
          </a:solidFill>
          <a:ln/>
        </p:spPr>
      </p:sp>
      <p:pic>
        <p:nvPicPr>
          <p:cNvPr id="7" name="Che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0116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فحوصات الجودة</a:t>
            </a:r>
            <a:endParaRPr lang="ar-SA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مجاميع المناطق تطابق الإجمالي: 37,481 و1,759 و4,009</a:t>
            </a:r>
            <a:endParaRPr lang="ar-SA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إجمالي الواردات والصادرات يطابق مجموع الفئات الخمس</a:t>
            </a:r>
            <a:endParaRPr lang="ar-SA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709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الوحدات موثقة: آلاف الريالات للمبالغ، وعدد للسجلات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جولة في الصفحة الأولى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مؤشرات القطاع، حصة الاقتصاد الرقمي، التجارة، والسجلات</a:t>
            </a:r>
            <a:endParaRPr lang="ar-SA" sz="1600" dirty="0"/>
          </a:p>
        </p:txBody>
      </p:sp>
      <p:sp>
        <p:nvSpPr>
          <p:cNvPr id="4" name="Screenshot Frame"/>
          <p:cNvSpPr/>
          <p:nvPr/>
        </p:nvSpPr>
        <p:spPr>
          <a:xfrm>
            <a:off x="4572000" y="1691640"/>
            <a:ext cx="7068312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pic>
        <p:nvPicPr>
          <p:cNvPr id="5" name="Dashboard Page 1" descr="dash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83080"/>
            <a:ext cx="6885432" cy="3977640"/>
          </a:xfrm>
          <a:prstGeom prst="rect">
            <a:avLst/>
          </a:prstGeom>
        </p:spPr>
      </p:pic>
      <p:sp>
        <p:nvSpPr>
          <p:cNvPr id="6" name="Num Bg 1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57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بطاقات المؤشرات</a:t>
            </a:r>
            <a:endParaRPr lang="ar-S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214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الإيرادات والنفقات وتعويضات المشتغلين ونسبة الاتصال بالإنترنت</a:t>
            </a:r>
            <a:endParaRPr lang="ar-SA" sz="1300" dirty="0"/>
          </a:p>
        </p:txBody>
      </p:sp>
      <p:sp>
        <p:nvSpPr>
          <p:cNvPr id="10" name="Num Bg 2"/>
          <p:cNvSpPr/>
          <p:nvPr/>
        </p:nvSpPr>
        <p:spPr>
          <a:xfrm>
            <a:off x="3657600" y="28072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5760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797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حلقة حصة الاقتصاد الرقمي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14553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المستويات الأساسي والضيق والواسع من الناتج المحلي</a:t>
            </a:r>
            <a:endParaRPr lang="ar-SA" sz="1300" dirty="0"/>
          </a:p>
        </p:txBody>
      </p:sp>
      <p:sp>
        <p:nvSpPr>
          <p:cNvPr id="14" name="Num Bg 3"/>
          <p:cNvSpPr/>
          <p:nvPr/>
        </p:nvSpPr>
        <p:spPr>
          <a:xfrm>
            <a:off x="3657600" y="38313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5760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8039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الواردات مقابل الصادرات</a:t>
            </a:r>
            <a:endParaRPr lang="ar-SA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6966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مخطط حسب فئات سلع تقنية المعلومات والاتصالات</a:t>
            </a:r>
            <a:endParaRPr lang="ar-SA" sz="1300" dirty="0"/>
          </a:p>
        </p:txBody>
      </p:sp>
      <p:sp>
        <p:nvSpPr>
          <p:cNvPr id="18" name="Num Bg 4"/>
          <p:cNvSpPr/>
          <p:nvPr/>
        </p:nvSpPr>
        <p:spPr>
          <a:xfrm>
            <a:off x="3657600" y="485546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28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السجلات 2022 و2023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1937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أشرطة للتجارة الإلكترونية والسحابة والبرمجيات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جولة في الصفحة الثانية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توزيع السجلات على المناطق مع فلتر المنطقة الإدارية</a:t>
            </a:r>
            <a:endParaRPr lang="ar-SA" sz="1600" dirty="0"/>
          </a:p>
        </p:txBody>
      </p:sp>
      <p:sp>
        <p:nvSpPr>
          <p:cNvPr id="4" name="Screenshot Frame"/>
          <p:cNvSpPr/>
          <p:nvPr/>
        </p:nvSpPr>
        <p:spPr>
          <a:xfrm>
            <a:off x="4572000" y="1691640"/>
            <a:ext cx="7068312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pic>
        <p:nvPicPr>
          <p:cNvPr id="5" name="Dashboard Page 2" descr="dash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783080"/>
            <a:ext cx="6885432" cy="3977640"/>
          </a:xfrm>
          <a:prstGeom prst="rect">
            <a:avLst/>
          </a:prstGeom>
        </p:spPr>
      </p:pic>
      <p:sp>
        <p:nvSpPr>
          <p:cNvPr id="6" name="Num Bg 1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57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ثلاثة مخططات دائرية</a:t>
            </a:r>
            <a:endParaRPr lang="ar-S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21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التجارة الإلكترونية والحوسبة السحابية ونشر البرمجيات</a:t>
            </a:r>
            <a:endParaRPr lang="ar-SA" sz="1300" dirty="0"/>
          </a:p>
        </p:txBody>
      </p:sp>
      <p:sp>
        <p:nvSpPr>
          <p:cNvPr id="10" name="Num Bg 2"/>
          <p:cNvSpPr/>
          <p:nvPr/>
        </p:nvSpPr>
        <p:spPr>
          <a:xfrm>
            <a:off x="3657600" y="2697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576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70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فلتر المنطقة الإدارية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0358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يتحكم في المخططات الثلاثة معاً</a:t>
            </a:r>
            <a:endParaRPr lang="ar-SA" sz="1300" dirty="0"/>
          </a:p>
        </p:txBody>
      </p:sp>
      <p:sp>
        <p:nvSpPr>
          <p:cNvPr id="14" name="Validation Note"/>
          <p:cNvSpPr/>
          <p:nvPr/>
        </p:nvSpPr>
        <p:spPr>
          <a:xfrm>
            <a:off x="548640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4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858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ملاحظة تحقق</a:t>
            </a:r>
            <a:endParaRPr lang="ar-SA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224528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يبدو أن كل مخطط يعرض خمس فئات فقط: المنطقة الخامسة (القصيم في التجارة الإلكترونية، وعسير في السحابة والبرمجيات) غير ظاهرة، لذلك تختلف النسب قليلاً عن الجداول المصدر.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حصة الاقتصاد الرقمي من الناتج المحلي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المستوى الواسع هو الأكبر بـ 10.7%، ويشكل نحو 69% من المجموع</a:t>
            </a:r>
            <a:endParaRPr lang="ar-SA" sz="1600" dirty="0"/>
          </a:p>
        </p:txBody>
      </p:sp>
      <p:sp>
        <p:nvSpPr>
          <p:cNvPr id="4" name="Chart Card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82880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otal Panel"/>
          <p:cNvSpPr/>
          <p:nvPr/>
        </p:nvSpPr>
        <p:spPr>
          <a:xfrm>
            <a:off x="6309360" y="1691640"/>
            <a:ext cx="5330952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15.6%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المجموع الكلي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accent3"/>
                </a:solidFill>
              </a:rPr>
              <a:t>مجموع المستويات (الجدول 1)</a:t>
            </a:r>
            <a:endParaRPr lang="ar-SA" sz="1400" dirty="0"/>
          </a:p>
        </p:txBody>
      </p:sp>
      <p:sp>
        <p:nvSpPr>
          <p:cNvPr id="10" name="Level Card 1"/>
          <p:cNvSpPr/>
          <p:nvPr/>
        </p:nvSpPr>
        <p:spPr>
          <a:xfrm>
            <a:off x="6309360" y="3108960"/>
            <a:ext cx="533095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1" name="Level Dot 1"/>
          <p:cNvSpPr/>
          <p:nvPr/>
        </p:nvSpPr>
        <p:spPr>
          <a:xfrm>
            <a:off x="11155680" y="3364992"/>
            <a:ext cx="292608" cy="292608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الواسع</a:t>
            </a:r>
            <a:endParaRPr lang="ar-SA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566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68.6% من مجموع المستويات</a:t>
            </a:r>
            <a:endParaRPr lang="ar-SA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2004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10.7%</a:t>
            </a:r>
            <a:endParaRPr lang="en-US" sz="2800" dirty="0"/>
          </a:p>
        </p:txBody>
      </p:sp>
      <p:sp>
        <p:nvSpPr>
          <p:cNvPr id="15" name="Level Card 2"/>
          <p:cNvSpPr/>
          <p:nvPr/>
        </p:nvSpPr>
        <p:spPr>
          <a:xfrm>
            <a:off x="6309360" y="4041648"/>
            <a:ext cx="533095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6" name="Level Dot 2"/>
          <p:cNvSpPr/>
          <p:nvPr/>
        </p:nvSpPr>
        <p:spPr>
          <a:xfrm>
            <a:off x="11155680" y="4297680"/>
            <a:ext cx="292608" cy="292608"/>
          </a:xfrm>
          <a:prstGeom prst="ellipse">
            <a:avLst/>
          </a:prstGeom>
          <a:solidFill>
            <a:srgbClr val="2523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03920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الأساسي</a:t>
            </a:r>
            <a:endParaRPr lang="ar-SA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4498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16.7% من مجموع المستويات</a:t>
            </a:r>
            <a:endParaRPr lang="ar-SA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1330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2.6%</a:t>
            </a:r>
            <a:endParaRPr lang="en-US" sz="2800" dirty="0"/>
          </a:p>
        </p:txBody>
      </p:sp>
      <p:sp>
        <p:nvSpPr>
          <p:cNvPr id="20" name="Level Card 3"/>
          <p:cNvSpPr/>
          <p:nvPr/>
        </p:nvSpPr>
        <p:spPr>
          <a:xfrm>
            <a:off x="6309360" y="4974336"/>
            <a:ext cx="533095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21" name="Level Dot 3"/>
          <p:cNvSpPr/>
          <p:nvPr/>
        </p:nvSpPr>
        <p:spPr>
          <a:xfrm>
            <a:off x="11155680" y="5230368"/>
            <a:ext cx="292608" cy="292608"/>
          </a:xfrm>
          <a:prstGeom prst="ellipse">
            <a:avLst/>
          </a:prstGeom>
          <a:solidFill>
            <a:srgbClr val="77727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0" y="50657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الضيق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5431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14.7% من مجموع المستويات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50657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2.3%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9893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tx2"/>
                </a:solidFill>
              </a:rPr>
              <a:t>*مبنية على الناتج المحلي الإجمالي بعد التحديث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اقتصاديات قطاع تقنية المعلومات والاتصالات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النفقات تعادل نحو نصف الإيرادات، والتعويضات أقل من 12%</a:t>
            </a:r>
            <a:endParaRPr lang="ar-SA" sz="1600" dirty="0"/>
          </a:p>
        </p:txBody>
      </p:sp>
      <p:sp>
        <p:nvSpPr>
          <p:cNvPr id="4" name="Chart Card"/>
          <p:cNvSpPr/>
          <p:nvPr/>
        </p:nvSpPr>
        <p:spPr>
          <a:xfrm>
            <a:off x="548640" y="1691640"/>
            <a:ext cx="6675120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82880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Adoption Card"/>
          <p:cNvSpPr/>
          <p:nvPr/>
        </p:nvSpPr>
        <p:spPr>
          <a:xfrm>
            <a:off x="7589520" y="1691640"/>
            <a:ext cx="40507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1812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71.6%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788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منشآت تستخدم أنظمة أو أجهزة متصلة بالإنترنت</a:t>
            </a:r>
            <a:endParaRPr lang="ar-SA" sz="1600" dirty="0"/>
          </a:p>
        </p:txBody>
      </p:sp>
      <p:sp>
        <p:nvSpPr>
          <p:cNvPr id="9" name="Ratios Card"/>
          <p:cNvSpPr/>
          <p:nvPr/>
        </p:nvSpPr>
        <p:spPr>
          <a:xfrm>
            <a:off x="7589520" y="3886200"/>
            <a:ext cx="40507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18120" y="4023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نسب من الإيرادات</a:t>
            </a:r>
            <a:endParaRPr lang="ar-SA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48.8%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النفقات التشغيلية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5166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11.6%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تعويضات المشتغلين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واردات وصادرات سلع التقنية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معدات الاتصالات تستحوذ على 56% من الواردات و94% من الصادرات</a:t>
            </a:r>
            <a:endParaRPr lang="ar-SA" sz="1600" dirty="0"/>
          </a:p>
        </p:txBody>
      </p:sp>
      <p:sp>
        <p:nvSpPr>
          <p:cNvPr id="4" name="Chart Card"/>
          <p:cNvSpPr/>
          <p:nvPr/>
        </p:nvSpPr>
        <p:spPr>
          <a:xfrm>
            <a:off x="4480560" y="1691640"/>
            <a:ext cx="7159752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4617720" y="18288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ade KPI 1"/>
          <p:cNvSpPr/>
          <p:nvPr/>
        </p:nvSpPr>
        <p:spPr>
          <a:xfrm>
            <a:off x="548640" y="1691640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الواردات (مليار ريال)</a:t>
            </a:r>
            <a:endParaRPr lang="ar-S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54.9</a:t>
            </a:r>
            <a:endParaRPr lang="en-US" sz="3600" dirty="0"/>
          </a:p>
        </p:txBody>
      </p:sp>
      <p:sp>
        <p:nvSpPr>
          <p:cNvPr id="9" name="Growth Chip 1"/>
          <p:cNvSpPr/>
          <p:nvPr/>
        </p:nvSpPr>
        <p:spPr>
          <a:xfrm>
            <a:off x="731520" y="228600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286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+19.9%</a:t>
            </a:r>
            <a:endParaRPr lang="en-US" sz="1700" dirty="0"/>
          </a:p>
        </p:txBody>
      </p:sp>
      <p:sp>
        <p:nvSpPr>
          <p:cNvPr id="11" name="Trade KPI 2"/>
          <p:cNvSpPr/>
          <p:nvPr/>
        </p:nvSpPr>
        <p:spPr>
          <a:xfrm>
            <a:off x="548640" y="3172968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الصادرات (مليار ريال)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36758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11.8</a:t>
            </a:r>
            <a:endParaRPr lang="en-US" sz="3600" dirty="0"/>
          </a:p>
        </p:txBody>
      </p:sp>
      <p:sp>
        <p:nvSpPr>
          <p:cNvPr id="14" name="Growth Chip 2"/>
          <p:cNvSpPr/>
          <p:nvPr/>
        </p:nvSpPr>
        <p:spPr>
          <a:xfrm>
            <a:off x="731520" y="3767328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+74.9%</a:t>
            </a:r>
            <a:endParaRPr lang="en-US" sz="1700" dirty="0"/>
          </a:p>
        </p:txBody>
      </p:sp>
      <p:sp>
        <p:nvSpPr>
          <p:cNvPr id="16" name="Trade KPI 3"/>
          <p:cNvSpPr/>
          <p:nvPr/>
        </p:nvSpPr>
        <p:spPr>
          <a:xfrm>
            <a:off x="548640" y="4654296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31520" y="4791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حجم التجارة (مليار ريال)</a:t>
            </a:r>
            <a:endParaRPr lang="ar-SA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377440" y="515721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66.8</a:t>
            </a:r>
            <a:endParaRPr lang="en-US" sz="3600" dirty="0"/>
          </a:p>
        </p:txBody>
      </p:sp>
      <p:sp>
        <p:nvSpPr>
          <p:cNvPr id="19" name="Growth Chip 3"/>
          <p:cNvSpPr/>
          <p:nvPr/>
        </p:nvSpPr>
        <p:spPr>
          <a:xfrm>
            <a:off x="731520" y="5248656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5248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+27.0%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نمو السجلات القائمة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الحوسبة السحابية الأسرع نمواً (+40.5%) رغم صغر قاعدتها</a:t>
            </a:r>
            <a:endParaRPr lang="ar-SA" sz="1600" dirty="0"/>
          </a:p>
        </p:txBody>
      </p:sp>
      <p:sp>
        <p:nvSpPr>
          <p:cNvPr id="4" name="Chart Card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82880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cords Card 1"/>
          <p:cNvSpPr/>
          <p:nvPr/>
        </p:nvSpPr>
        <p:spPr>
          <a:xfrm>
            <a:off x="6035040" y="1691640"/>
            <a:ext cx="5605272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التجارة الإلكترونية</a:t>
            </a:r>
            <a:endParaRPr lang="ar-S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37,481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2022: 30,187</a:t>
            </a:r>
            <a:endParaRPr lang="ar-SA" sz="1300" dirty="0"/>
          </a:p>
        </p:txBody>
      </p:sp>
      <p:sp>
        <p:nvSpPr>
          <p:cNvPr id="10" name="Growth Chip 1"/>
          <p:cNvSpPr/>
          <p:nvPr/>
        </p:nvSpPr>
        <p:spPr>
          <a:xfrm>
            <a:off x="6263640" y="1965960"/>
            <a:ext cx="137160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+24.2%</a:t>
            </a:r>
            <a:endParaRPr lang="en-US" sz="1800" dirty="0"/>
          </a:p>
        </p:txBody>
      </p:sp>
      <p:sp>
        <p:nvSpPr>
          <p:cNvPr id="12" name="Records Card 2"/>
          <p:cNvSpPr/>
          <p:nvPr/>
        </p:nvSpPr>
        <p:spPr>
          <a:xfrm>
            <a:off x="6035040" y="3172968"/>
            <a:ext cx="5605272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0" y="3310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نشر البرمجيات</a:t>
            </a:r>
            <a:endParaRPr lang="ar-SA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4,009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2022: 3,113</a:t>
            </a:r>
            <a:endParaRPr lang="ar-SA" sz="1300" dirty="0"/>
          </a:p>
        </p:txBody>
      </p:sp>
      <p:sp>
        <p:nvSpPr>
          <p:cNvPr id="16" name="Growth Chip 2"/>
          <p:cNvSpPr/>
          <p:nvPr/>
        </p:nvSpPr>
        <p:spPr>
          <a:xfrm>
            <a:off x="6263640" y="3447288"/>
            <a:ext cx="137160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34472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+28.8%</a:t>
            </a:r>
            <a:endParaRPr lang="en-US" sz="1800" dirty="0"/>
          </a:p>
        </p:txBody>
      </p:sp>
      <p:sp>
        <p:nvSpPr>
          <p:cNvPr id="18" name="Records Card 3"/>
          <p:cNvSpPr/>
          <p:nvPr/>
        </p:nvSpPr>
        <p:spPr>
          <a:xfrm>
            <a:off x="6035040" y="4654296"/>
            <a:ext cx="5605272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315200" y="4791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الحوسبة السحابية</a:t>
            </a:r>
            <a:endParaRPr lang="ar-SA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52029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1,759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5568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tx2"/>
                </a:solidFill>
              </a:rPr>
              <a:t>2022: 1,252</a:t>
            </a:r>
            <a:endParaRPr lang="ar-SA" sz="1300" dirty="0"/>
          </a:p>
        </p:txBody>
      </p:sp>
      <p:sp>
        <p:nvSpPr>
          <p:cNvPr id="22" name="Growth Chip 3"/>
          <p:cNvSpPr/>
          <p:nvPr/>
        </p:nvSpPr>
        <p:spPr>
          <a:xfrm>
            <a:off x="6263640" y="4928616"/>
            <a:ext cx="137160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49286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+40.5%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737360" y="3200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</a:rPr>
              <a:t>التركز الإقليمي للأنشطة الرقمية</a:t>
            </a:r>
            <a:endParaRPr lang="ar-SA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37360" y="10515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الرياض تقود الأنشطة الثلاثة، وثلاث مناطق تضم أغلب السجلات</a:t>
            </a:r>
            <a:endParaRPr lang="ar-SA" sz="1600" dirty="0"/>
          </a:p>
        </p:txBody>
      </p:sp>
      <p:sp>
        <p:nvSpPr>
          <p:cNvPr id="4" name="Chart Card"/>
          <p:cNvSpPr/>
          <p:nvPr/>
        </p:nvSpPr>
        <p:spPr>
          <a:xfrm>
            <a:off x="4480560" y="1691640"/>
            <a:ext cx="7159752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4617720" y="18288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gion Insight 1"/>
          <p:cNvSpPr/>
          <p:nvPr/>
        </p:nvSpPr>
        <p:spPr>
          <a:xfrm>
            <a:off x="548640" y="1691640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60%+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8745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حصة الرياض من سجلات الحوسبة السحابية ونشر البرمجيات</a:t>
            </a:r>
            <a:endParaRPr lang="ar-SA" sz="1400" dirty="0"/>
          </a:p>
        </p:txBody>
      </p:sp>
      <p:sp>
        <p:nvSpPr>
          <p:cNvPr id="9" name="Region Insight 2"/>
          <p:cNvSpPr/>
          <p:nvPr/>
        </p:nvSpPr>
        <p:spPr>
          <a:xfrm>
            <a:off x="548640" y="3172968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335584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82%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33558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حصة الرياض ومكة والشرقية من سجلات التجارة الإلكترونية</a:t>
            </a:r>
            <a:endParaRPr lang="ar-SA" sz="1400" dirty="0"/>
          </a:p>
        </p:txBody>
      </p:sp>
      <p:sp>
        <p:nvSpPr>
          <p:cNvPr id="12" name="Region Insight 3"/>
          <p:cNvSpPr/>
          <p:nvPr/>
        </p:nvSpPr>
        <p:spPr>
          <a:xfrm>
            <a:off x="548640" y="4654296"/>
            <a:ext cx="3657600" cy="1335024"/>
          </a:xfrm>
          <a:prstGeom prst="roundRect">
            <a:avLst>
              <a:gd name="adj" fmla="val 8219"/>
            </a:avLst>
          </a:prstGeom>
          <a:solidFill>
            <a:schemeClr val="bg1"/>
          </a:solidFill>
          <a:ln w="9525">
            <a:solidFill>
              <a:srgbClr val="E7E2F5"/>
            </a:solidFill>
            <a:prstDash val="solid"/>
          </a:ln>
          <a:effectLst>
            <a:outerShdw sx="100000" sy="100000" kx="0" ky="0" algn="bl" rotWithShape="0" blurRad="127000" dist="25400" dir="5400000">
              <a:srgbClr val="6B4FB8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483717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92%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483717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حصة المناطق الثلاث من سجلات السحابة والبرمجيات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nogr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868680" cy="768096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737360" y="36576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bg1"/>
                </a:solidFill>
              </a:rPr>
              <a:t>الخلاصة والخطوات التالية</a:t>
            </a:r>
            <a:endParaRPr lang="ar-SA" sz="3400" dirty="0"/>
          </a:p>
        </p:txBody>
      </p:sp>
      <p:sp>
        <p:nvSpPr>
          <p:cNvPr id="4" name="Findings Card"/>
          <p:cNvSpPr/>
          <p:nvPr/>
        </p:nvSpPr>
        <p:spPr>
          <a:xfrm>
            <a:off x="6309360" y="1463040"/>
            <a:ext cx="5330952" cy="4572000"/>
          </a:xfrm>
          <a:prstGeom prst="roundRect">
            <a:avLst>
              <a:gd name="adj" fmla="val 280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3"/>
                </a:solidFill>
              </a:rPr>
              <a:t>أبرز النتائج</a:t>
            </a:r>
            <a:endParaRPr lang="ar-SA" sz="2200" dirty="0"/>
          </a:p>
        </p:txBody>
      </p:sp>
      <p:sp>
        <p:nvSpPr>
          <p:cNvPr id="6" name="Findings List"/>
          <p:cNvSpPr txBox="1"/>
          <p:nvPr/>
        </p:nvSpPr>
        <p:spPr>
          <a:xfrm>
            <a:off x="653796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الاقتصاد الرقمي يمثل 15.6% من الناتج المحلي حسب مجموع المستويات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إيرادات القطاع 236.4 مليار ريال مقابل نفقات 115.5 مليار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نمت صادرات السلع 75% وحجم التجارة 27% خلال عام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الرياض تقود السجلات الرقمية، خاصة السحابة والبرمجيات</a:t>
            </a:r>
            <a:endParaRPr lang="ar-SA" sz="1700" dirty="0"/>
          </a:p>
        </p:txBody>
      </p:sp>
      <p:sp>
        <p:nvSpPr>
          <p:cNvPr id="7" name="Improvements Card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80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3"/>
                </a:solidFill>
              </a:rPr>
              <a:t>تحسينات مقترحة للوحة</a:t>
            </a:r>
            <a:endParaRPr lang="ar-SA" sz="2200" dirty="0"/>
          </a:p>
        </p:txBody>
      </p:sp>
      <p:sp>
        <p:nvSpPr>
          <p:cNvPr id="9" name="Improvements List"/>
          <p:cNvSpPr txBox="1"/>
          <p:nvPr/>
        </p:nvSpPr>
        <p:spPr>
          <a:xfrm>
            <a:off x="77724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إضافة المنطقة الخامسة (القصيم وعسير) لتطابق النسب الإجماليات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استبدال المخطط المساحي بأعمدة مجمعة للواردات والصادرات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عرض المبالغ بوحدة مليار ريال والسجلات بأرقامها الكاملة بدل الاختصارات</a:t>
            </a:r>
            <a:endParaRPr lang="ar-SA" sz="17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700" dirty="0">
                <a:solidFill>
                  <a:schemeClr val="bg1"/>
                </a:solidFill>
              </a:rPr>
              <a:t>عرض نسبة الاتصال بصيغة مئوية بدل الكسر العشري</a:t>
            </a:r>
            <a:endParaRPr lang="ar-SA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wan Dandeni Brand">
  <a:themeElements>
    <a:clrScheme name="Orgwan Dandeni Brand">
      <a:dk1>
        <a:srgbClr val="25232B"/>
      </a:dk1>
      <a:lt1>
        <a:srgbClr val="FFFFFF"/>
      </a:lt1>
      <a:dk2>
        <a:srgbClr val="77727F"/>
      </a:dk2>
      <a:lt2>
        <a:srgbClr val="F8F7FC"/>
      </a:lt2>
      <a:accent1>
        <a:srgbClr val="9370DB"/>
      </a:accent1>
      <a:accent2>
        <a:srgbClr val="6B4FB8"/>
      </a:accent2>
      <a:accent3>
        <a:srgbClr val="C9B8F0"/>
      </a:accent3>
      <a:accent4>
        <a:srgbClr val="77727F"/>
      </a:accent4>
      <a:accent5>
        <a:srgbClr val="B7A5EA"/>
      </a:accent5>
      <a:accent6>
        <a:srgbClr val="25232B"/>
      </a:accent6>
      <a:hlink>
        <a:srgbClr val="6B4FB8"/>
      </a:hlink>
      <a:folHlink>
        <a:srgbClr val="77727F"/>
      </a:folHlink>
    </a:clrScheme>
    <a:fontScheme name="Orgwan Dandeni Br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إحصاءات الاقتصاد الرقمي 2023 – شرح اللوحة والبيانات</dc:title>
  <dc:subject>PptxGenJS Presentation</dc:subject>
  <dc:creator>Orgwan Dandeni</dc:creator>
  <cp:lastModifiedBy>Orgwan Dandeni</cp:lastModifiedBy>
  <cp:revision>1</cp:revision>
  <dcterms:created xsi:type="dcterms:W3CDTF">2026-10-24T07:37:37Z</dcterms:created>
  <dcterms:modified xsi:type="dcterms:W3CDTF">2026-10-24T07:37:37Z</dcterms:modified>
</cp:coreProperties>
</file>